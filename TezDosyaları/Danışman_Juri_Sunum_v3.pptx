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60" r:id="rId6"/>
    <p:sldId id="263" r:id="rId7"/>
    <p:sldId id="261" r:id="rId8"/>
    <p:sldId id="266" r:id="rId13"/>
    <p:sldId id="265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91" d="100"/>
          <a:sy n="91" d="100"/>
        </p:scale>
        <p:origin x="1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" y="0"/>
            <a:ext cx="9144000" cy="129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tr-TR" sz="2500" b="1" dirty="0">
                <a:latin typeface="Arial" pitchFamily="34" charset="0"/>
                <a:cs typeface="Arial" pitchFamily="34" charset="0"/>
              </a:rPr>
              <a:t>SUNUM HAZIRLANIRKEN DİKKAT </a:t>
            </a:r>
            <a:r>
              <a:rPr lang="tr-TR" sz="2500" b="1" dirty="0" smtClean="0">
                <a:latin typeface="Arial" pitchFamily="34" charset="0"/>
                <a:cs typeface="Arial" pitchFamily="34" charset="0"/>
              </a:rPr>
              <a:t>EDİLMESİ GEREKEN HUSUSLAR</a:t>
            </a:r>
            <a:endParaRPr lang="tr-TR" sz="2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8313" y="1523999"/>
            <a:ext cx="8424862" cy="4602163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Sunumlar formata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uygun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 olmalıdır.</a:t>
            </a:r>
          </a:p>
          <a:p>
            <a:pPr algn="just"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Sunumlar toplamda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9 </a:t>
            </a:r>
            <a:r>
              <a:rPr lang="tr-TR" sz="2000" b="1" dirty="0" err="1" smtClean="0">
                <a:latin typeface="Arial" pitchFamily="34" charset="0"/>
                <a:cs typeface="Arial" pitchFamily="34" charset="0"/>
              </a:rPr>
              <a:t>slaytı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 geçmeyecek şekilde 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hazırlanmalıdır.</a:t>
            </a:r>
          </a:p>
          <a:p>
            <a:pPr marL="0" indent="0">
              <a:buFont typeface="Arial" charset="0"/>
              <a:buNone/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Tüm başlıklarla ilgili bilgilere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kısa ve net 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bir şekilde değinilmelidir.</a:t>
            </a:r>
          </a:p>
          <a:p>
            <a:pPr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tr-TR" sz="2000" dirty="0">
                <a:latin typeface="Arial" pitchFamily="34" charset="0"/>
                <a:cs typeface="Arial" pitchFamily="34" charset="0"/>
              </a:rPr>
              <a:t>Sunum süresi kesinlikle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10 dakikayı geçmemelidir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. Süre bitiminde sunumlar </a:t>
            </a:r>
            <a:r>
              <a:rPr lang="tr-TR" sz="2000" dirty="0" err="1" smtClean="0">
                <a:latin typeface="Arial" pitchFamily="34" charset="0"/>
                <a:cs typeface="Arial" pitchFamily="34" charset="0"/>
              </a:rPr>
              <a:t>moderatör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 tarafından kesilecektir.</a:t>
            </a:r>
          </a:p>
          <a:p>
            <a:pPr>
              <a:defRPr/>
            </a:pPr>
            <a:endParaRPr lang="tr-TR" sz="2000" dirty="0"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tr-TR" sz="2000" dirty="0" smtClean="0">
                <a:latin typeface="Arial" pitchFamily="34" charset="0"/>
                <a:cs typeface="Arial" pitchFamily="34" charset="0"/>
              </a:rPr>
              <a:t>Sunumun tamamlanmasından sonra </a:t>
            </a:r>
            <a:r>
              <a:rPr lang="tr-TR" sz="2000" b="1" dirty="0" smtClean="0">
                <a:latin typeface="Arial" pitchFamily="34" charset="0"/>
                <a:cs typeface="Arial" pitchFamily="34" charset="0"/>
              </a:rPr>
              <a:t>bitirme tezinin çalışan uygulaması </a:t>
            </a:r>
            <a:r>
              <a:rPr lang="tr-TR" sz="2000" dirty="0" smtClean="0">
                <a:latin typeface="Arial" pitchFamily="34" charset="0"/>
                <a:cs typeface="Arial" pitchFamily="34" charset="0"/>
              </a:rPr>
              <a:t>gösterilecektir.</a:t>
            </a:r>
          </a:p>
          <a:p>
            <a:pPr>
              <a:defRPr/>
            </a:pPr>
            <a:endParaRPr lang="tr-TR" sz="20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tr-TR" sz="20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tr-TR" sz="20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/>
              <a:t>Veri Seti Açıklamaları Üzerinden Büyük Dil Modeli Uyarlaması ile Anlam Tabanlı Veri Keşfi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8686800" cy="2438400"/>
          </a:xfrm>
        </p:spPr>
        <p:txBody>
          <a:bodyPr>
            <a:normAutofit/>
          </a:bodyPr>
          <a:lstStyle/>
          <a:p>
            <a:pPr algn="l"/>
            <a:r>
              <a:rPr sz="1800"/>
              <a:t>Öğrenciler:  Öykü Duru Akpınar  ·  Melike Selma Genç</a:t>
            </a:r>
          </a:p>
          <a:p>
            <a:r>
              <a:rPr sz="1800"/>
              <a:t>Danışman:  Prof. Dr. Murat Osman Ünalır</a:t>
            </a:r>
          </a:p>
          <a:p>
            <a:r>
              <a:rPr sz="1800"/>
              <a:t>Sunum Tarihi:  Mayıs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Konu ve Amaç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Veri bilimi projelerinde uygun veri setini bulmak en uzun süren adımlardan biridir.</a:t>
            </a:r>
            <a:endParaRPr lang="tr-TR" dirty="0"/>
          </a:p>
          <a:p>
            <a:pPr/>
            <a:r>
              <a:rPr sz="1800"/>
              <a:t>Kaggle ve Hugging Face gibi platformlardaki mevcut arama ağırlıklı olarak anahtar kelime eşleşmesine dayanır; eş anlamlı ya da farklı yazım tarzındaki açıklamaları kaçırır.</a:t>
            </a:r>
          </a:p>
          <a:p>
            <a:pPr/>
            <a:r>
              <a:rPr sz="1800"/>
              <a:t>Amaç: yalnızca veri seti başlığı ve açıklama metni üzerinden anlamsal arama yapan, klasik BM25 baseline ile sayısal olarak karşılaştırılabilir bir prototip geliştirmek.</a:t>
            </a:r>
          </a:p>
          <a:p>
            <a:pPr/>
            <a:r>
              <a:rPr sz="1800"/>
              <a:t>Hedef metrikler: Precision@K, Recall@K, MRR, nDCG@5; ek olarak Türkçe alt küme analizi.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Özgün Değer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Dürüst güven sinyali — corpus'ta karşılığı olmayan sorgularda sistem yanlış sonuç değil, "weak match" rozeti ve OOD uyarısı gösterir.</a:t>
            </a:r>
            <a:endParaRPr lang="tr-TR"/>
          </a:p>
          <a:p>
            <a:pPr/>
            <a:r>
              <a:rPr sz="1800"/>
              <a:t>Lexical-anchor cezası — sorgudaki kritik kelime dokümanda yoksa skor düşürülür; Pokemon-images gibi anlamsal yakın ama konuyla ilgisiz sonuçlar elenir.</a:t>
            </a:r>
          </a:p>
          <a:p>
            <a:pPr/>
            <a:r>
              <a:rPr sz="1800"/>
              <a:t>Dört encoder profili tek pipeline üzerinde yan yana: MiniLM, E5-base, MiniLM-FT (alan uyarlamalı), multilingual (Türkçe destekli).</a:t>
            </a:r>
          </a:p>
          <a:p>
            <a:pPr/>
            <a:r>
              <a:rPr sz="1800"/>
              <a:t>Title-deemphasis politikası — açıklaması zayıf veri setlerinde başlık tek başına sonucu sürüklemez, kullanıcıya rozetle bildirilir.</a:t>
            </a:r>
          </a:p>
          <a:p>
            <a:pPr/>
            <a:r>
              <a:rPr sz="1800"/>
              <a:t>Tekrar üretilebilir değerlendirme — 34 etiketli sorgu + 46 sorguluk stres seti, her değişikliğin etkisi P@1/P@3 ile ölçülebilir.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Yaygın Etki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Açık veri portalları ve kurumsal data catalog'ları için yeniden kullanılabilir anlamsal arama modülü.</a:t>
            </a:r>
            <a:endParaRPr lang="tr-TR"/>
          </a:p>
          <a:p>
            <a:pPr/>
            <a:r>
              <a:rPr sz="1800"/>
              <a:t>Veri bilimi araştırmacıları için veri keşif süresinde belirgin azalma — Top-K içinde aranan veri setine ulaşma oranı %50+ göreli iyileşti.</a:t>
            </a:r>
          </a:p>
          <a:p>
            <a:pPr/>
            <a:r>
              <a:rPr sz="1800"/>
              <a:t>Tekrar üretilebilir değerlendirme protokolü: 34 etiketli sorguluk benchmark + 46 sorguluk regresyon probu (`dev_tools/regression_probe.py`).</a:t>
            </a:r>
          </a:p>
          <a:p>
            <a:pPr/>
            <a:r>
              <a:rPr sz="1800"/>
              <a:t>Türkçe sorgu desteği — multilingual profile sayesinde Türkçe data discovery senaryoları aynı sistem üzerinden test edilebilir.</a:t>
            </a:r>
          </a:p>
          <a:p>
            <a:pPr/>
            <a:r>
              <a:rPr sz="1800"/>
              <a:t>Açık kaynak Python yığını (sentence-transformers, FAISS, BM25) — gelecek araştırmalar için temel.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Uygulanabilirlik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Çalışan web prototipi: tarayıcı tabanlı Live Search arayüzü ve dört araştırma sorusunu (RQ1–RQ4) açıklayan paneller.</a:t>
            </a:r>
            <a:endParaRPr lang="tr-TR"/>
          </a:p>
          <a:p>
            <a:pPr/>
            <a:r>
              <a:rPr sz="1800"/>
              <a:t>Corpus: 1.120 veri seti tanımı (640 Kaggle + 480 Hugging Face) FAISS ile indekslendi; her sorgu 1 saniyenin altında yanıtlanıyor.</a:t>
            </a:r>
          </a:p>
          <a:p>
            <a:pPr/>
            <a:r>
              <a:rPr sz="1800"/>
              <a:t>Üç retrieval yöntemi (BM25 / Semantic / Hybrid) ve dört encoder profili kullanıcı tarafından canlı seçilebiliyor — toplam 24 farklı konfigürasyon test edilebilir.</a:t>
            </a:r>
          </a:p>
          <a:p>
            <a:pPr/>
            <a:r>
              <a:rPr sz="1800"/>
              <a:t>Cross-encoder semantic rerank açılır-kapanır toggle olarak sunulmuş; ablation çalışmaları yapılabilir.</a:t>
            </a:r>
          </a:p>
          <a:p>
            <a:pPr/>
            <a:r>
              <a:rPr sz="1800"/>
              <a:t>Yatay ölçeklenebilirlik: yeni veri kaynağı eklemek için yalnızca normalize_merge.py + build_faiss_index.py çalıştırmak yeterli.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Sistem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1) Veri Katmanı</a:t>
            </a:r>
            <a:endParaRPr lang="tr-TR"/>
          </a:p>
          <a:p>
            <a:pPr lvl="1"/>
            <a:r>
              <a:rPr sz="1800"/>
              <a:t>Kaggle + Hugging Face koleksiyon scriptleri  →  ham JSONL</a:t>
            </a:r>
          </a:p>
          <a:p>
            <a:pPr lvl="1"/>
            <a:r>
              <a:rPr sz="1800"/>
              <a:t>normalize_merge.py: temizleme, dil tespiti, domain/use-case çıkarımı  →  descriptions_clean.jsonl</a:t>
            </a:r>
          </a:p>
          <a:p>
            <a:pPr/>
            <a:r>
              <a:rPr sz="1800"/>
              <a:t>2) İndeks Katmanı  (her encoder profili için ayrı)</a:t>
            </a:r>
          </a:p>
          <a:p>
            <a:pPr lvl="1"/>
            <a:r>
              <a:rPr sz="1800"/>
              <a:t>Dense: build_faiss_index.py  →  FAISS IndexFlatIP  +  mappings.json</a:t>
            </a:r>
          </a:p>
          <a:p>
            <a:pPr lvl="1"/>
            <a:r>
              <a:rPr sz="1800"/>
              <a:t>Lexical: bm25.py  →  ters indeks (TITLE×3 + KEYWORD×2 + description)</a:t>
            </a:r>
          </a:p>
          <a:p>
            <a:pPr/>
            <a:r>
              <a:rPr sz="1800"/>
              <a:t>3) Sorgu Anlama Katmanı  (query_understanding.py)</a:t>
            </a:r>
          </a:p>
          <a:p>
            <a:pPr lvl="1"/>
            <a:r>
              <a:rPr sz="1800"/>
              <a:t>Tokenize → stopword/generic-noise filter → intent body → concept expansion → semantic variants</a:t>
            </a:r>
          </a:p>
          <a:p>
            <a:pPr/>
            <a:r>
              <a:rPr sz="1800"/>
              <a:t>4) Geri Getirme + Sıralama Katmanı</a:t>
            </a:r>
          </a:p>
          <a:p>
            <a:pPr lvl="1"/>
            <a:r>
              <a:rPr sz="1800"/>
              <a:t>search.py / hybrid.py: stage-1 semantic + BM25 skor füzyonu (top-40 aday)</a:t>
            </a:r>
          </a:p>
          <a:p>
            <a:pPr lvl="1"/>
            <a:r>
              <a:rPr sz="1800"/>
              <a:t>reranker.py: lexical-anchor coverage  +  cross-encoder rerank (BAAI/bge-reranker-base)  +  confidence etiketleme</a:t>
            </a:r>
          </a:p>
          <a:p>
            <a:pPr/>
            <a:r>
              <a:rPr sz="1800"/>
              <a:t>5) Sunum Katmanı  (web_app.py)</a:t>
            </a:r>
          </a:p>
          <a:p>
            <a:pPr lvl="1"/>
            <a:r>
              <a:rPr sz="1800"/>
              <a:t>HTTP API + tarayıcı arayüzü: Live Search, profile/method/source kontrolleri, 4 RQ paneli</a:t>
            </a:r>
          </a:p>
          <a:p>
            <a:pPr/>
            <a:r>
              <a:rPr sz="1800"/>
              <a:t>6) Değerlendirme Katmanı  (offline)</a:t>
            </a:r>
          </a:p>
          <a:p>
            <a:pPr lvl="1"/>
            <a:r>
              <a:rPr sz="1800"/>
              <a:t>evaluate_search.py (tez benchmark)  +  dev_tools/regression_probe.py (stres seti)  +  probe_evaluator.py (P@K, OOD doğruluğu)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Gerçekleştirme Yöntemi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Veri toplama → temizleme → semantic_text inşası (başlık + açıklama + çıkarsanmış domain/use case/modality).</a:t>
            </a:r>
          </a:p>
          <a:p>
            <a:pPr/>
            <a:r>
              <a:rPr sz="1800"/>
              <a:t>İndeksleme: FAISS (semantic) + ters indeks (BM25) paralel; her profil için ayrı vektör deposu.</a:t>
            </a:r>
          </a:p>
          <a:p>
            <a:pPr/>
            <a:r>
              <a:rPr sz="1800"/>
              <a:t>Sorgu işleme: tokenizasyon → stopword/generic-noise filtresi → curated phrase/concept genişletme → semantic varyant üretimi.</a:t>
            </a:r>
          </a:p>
          <a:p>
            <a:pPr/>
            <a:r>
              <a:rPr sz="1800"/>
              <a:t>Sıralama: stage-1 semantic + BM25 fusion → lexical-anchor coverage bonusu / penalty → cross-encoder rerank (BAAI/bge-reranker-base) → confidence etiketleme.</a:t>
            </a:r>
          </a:p>
          <a:p>
            <a:pPr/>
            <a:r>
              <a:rPr sz="1800"/>
              <a:t>Değerlendirme: 34 etiketli sorgu + 46 sorguluk stres seti; Hybrid P@1=0.91 (BM25 P@1=0.74), nDCG@5=0.79; OOD doğruluğu 0.90+.</a:t>
            </a:r>
          </a:p>
          <a:p>
            <a:pPr/>
            <a:r>
              <a:rPr sz="1800"/>
              <a:t>Mimari modüler: query_understanding, search, hybrid, reranker, quality_scoring, web_app — her katman bağımsız test edilebilir.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72</Words>
  <Application>Microsoft Macintosh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Arial</vt:lpstr>
      <vt:lpstr>Office Theme</vt:lpstr>
      <vt:lpstr>SUNUM HAZIRLANIRKEN DİKKAT EDİLMESİ GEREKEN HUSUSLAR</vt:lpstr>
      <vt:lpstr>PROJE ADI</vt:lpstr>
      <vt:lpstr>Konu ve Amaç</vt:lpstr>
      <vt:lpstr>Özgün Değer</vt:lpstr>
      <vt:lpstr>Yaygın Etki</vt:lpstr>
      <vt:lpstr>Uygulanabilirlik</vt:lpstr>
      <vt:lpstr>Gerçekleştirme Yöntemi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 ADI</dc:title>
  <dc:creator>ozgucan</dc:creator>
  <cp:lastModifiedBy>Microsoft Office User</cp:lastModifiedBy>
  <cp:revision>13</cp:revision>
  <dcterms:created xsi:type="dcterms:W3CDTF">2006-08-16T00:00:00Z</dcterms:created>
  <dcterms:modified xsi:type="dcterms:W3CDTF">2018-01-12T14:48:15Z</dcterms:modified>
</cp:coreProperties>
</file>