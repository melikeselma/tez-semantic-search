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4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 dirty="0"/>
              <a:t>Veri Seti </a:t>
            </a:r>
            <a:r>
              <a:rPr sz="2800" b="1" dirty="0" err="1"/>
              <a:t>Açıklamaları</a:t>
            </a:r>
            <a:r>
              <a:rPr sz="2800" b="1" dirty="0"/>
              <a:t> </a:t>
            </a:r>
            <a:r>
              <a:rPr sz="2800" b="1" dirty="0" err="1"/>
              <a:t>Üzerinden</a:t>
            </a:r>
            <a:r>
              <a:rPr sz="2800" b="1" dirty="0"/>
              <a:t> Büyük Dil </a:t>
            </a:r>
            <a:r>
              <a:rPr sz="2800" b="1" dirty="0" err="1"/>
              <a:t>Modeli</a:t>
            </a:r>
            <a:r>
              <a:rPr sz="2800" b="1" dirty="0"/>
              <a:t> </a:t>
            </a:r>
            <a:r>
              <a:rPr sz="2800" b="1" dirty="0" err="1"/>
              <a:t>Uyarlaması</a:t>
            </a:r>
            <a:r>
              <a:rPr sz="2800" b="1" dirty="0"/>
              <a:t> </a:t>
            </a:r>
            <a:r>
              <a:rPr sz="2800" b="1" dirty="0" err="1"/>
              <a:t>ile</a:t>
            </a:r>
            <a:r>
              <a:rPr sz="2800" b="1" dirty="0"/>
              <a:t> </a:t>
            </a:r>
            <a:r>
              <a:rPr sz="2800" b="1" dirty="0" err="1"/>
              <a:t>Anlam</a:t>
            </a:r>
            <a:r>
              <a:rPr sz="2800" b="1" dirty="0"/>
              <a:t> </a:t>
            </a:r>
            <a:r>
              <a:rPr sz="2800" b="1" dirty="0" err="1"/>
              <a:t>Tabanlı</a:t>
            </a:r>
            <a:r>
              <a:rPr sz="2800" b="1" dirty="0"/>
              <a:t> Veri </a:t>
            </a:r>
            <a:r>
              <a:rPr sz="2800" b="1" dirty="0" err="1"/>
              <a:t>Keşfi</a:t>
            </a:r>
            <a:endParaRPr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8686800" cy="2438400"/>
          </a:xfrm>
        </p:spPr>
        <p:txBody>
          <a:bodyPr>
            <a:normAutofit/>
          </a:bodyPr>
          <a:lstStyle/>
          <a:p>
            <a:pPr algn="l"/>
            <a:r>
              <a:rPr lang="tr-TR" sz="1800" dirty="0"/>
              <a:t>		</a:t>
            </a:r>
            <a:r>
              <a:rPr sz="1800" dirty="0" err="1"/>
              <a:t>Öğrenciler</a:t>
            </a:r>
            <a:r>
              <a:rPr sz="1800" dirty="0"/>
              <a:t>: </a:t>
            </a:r>
            <a:r>
              <a:rPr lang="tr-TR" sz="1800" dirty="0"/>
              <a:t>Melike Selma Genç · </a:t>
            </a:r>
            <a:r>
              <a:rPr sz="1800" dirty="0"/>
              <a:t>Öykü Duru </a:t>
            </a:r>
            <a:r>
              <a:rPr lang="tr-TR" sz="1800" dirty="0"/>
              <a:t>Akpınar</a:t>
            </a:r>
          </a:p>
          <a:p>
            <a:r>
              <a:rPr lang="tr-TR" sz="1800" dirty="0"/>
              <a:t>Danışman:  Prof. Dr. Murat Osman </a:t>
            </a:r>
            <a:r>
              <a:rPr lang="tr-TR" sz="1800" dirty="0" err="1"/>
              <a:t>Ünalır</a:t>
            </a:r>
            <a:endParaRPr lang="tr-TR" sz="1800" dirty="0"/>
          </a:p>
          <a:p>
            <a:r>
              <a:rPr sz="1800" dirty="0" err="1"/>
              <a:t>Sunum</a:t>
            </a:r>
            <a:r>
              <a:rPr sz="1800" dirty="0"/>
              <a:t> </a:t>
            </a:r>
            <a:r>
              <a:rPr sz="1800" dirty="0" err="1"/>
              <a:t>Tarihi</a:t>
            </a:r>
            <a:r>
              <a:rPr sz="1800" dirty="0"/>
              <a:t>:  </a:t>
            </a:r>
            <a:r>
              <a:rPr lang="tr-TR" sz="1800" dirty="0"/>
              <a:t>27 Nisan</a:t>
            </a:r>
            <a:r>
              <a:rPr sz="1800"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Konu ve Amaç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Veri </a:t>
            </a:r>
            <a:r>
              <a:rPr sz="1800" dirty="0" err="1"/>
              <a:t>bilimi</a:t>
            </a:r>
            <a:r>
              <a:rPr sz="1800" dirty="0"/>
              <a:t> </a:t>
            </a:r>
            <a:r>
              <a:rPr sz="1800" dirty="0" err="1"/>
              <a:t>projelerinde</a:t>
            </a:r>
            <a:r>
              <a:rPr sz="1800" dirty="0"/>
              <a:t> </a:t>
            </a:r>
            <a:r>
              <a:rPr sz="1800" dirty="0" err="1"/>
              <a:t>uygun</a:t>
            </a:r>
            <a:r>
              <a:rPr sz="1800" dirty="0"/>
              <a:t> </a:t>
            </a:r>
            <a:r>
              <a:rPr sz="1800" dirty="0" err="1"/>
              <a:t>veri</a:t>
            </a:r>
            <a:r>
              <a:rPr sz="1800" dirty="0"/>
              <a:t> </a:t>
            </a:r>
            <a:r>
              <a:rPr sz="1800" dirty="0" err="1"/>
              <a:t>setini</a:t>
            </a:r>
            <a:r>
              <a:rPr sz="1800" dirty="0"/>
              <a:t> </a:t>
            </a:r>
            <a:r>
              <a:rPr sz="1800" dirty="0" err="1"/>
              <a:t>bulmak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uzun</a:t>
            </a:r>
            <a:r>
              <a:rPr sz="1800" dirty="0"/>
              <a:t> </a:t>
            </a:r>
            <a:r>
              <a:rPr sz="1800" dirty="0" err="1"/>
              <a:t>süren</a:t>
            </a:r>
            <a:r>
              <a:rPr sz="1800" dirty="0"/>
              <a:t> </a:t>
            </a:r>
            <a:r>
              <a:rPr sz="1800" dirty="0" err="1"/>
              <a:t>adımlardan</a:t>
            </a:r>
            <a:r>
              <a:rPr sz="1800" dirty="0"/>
              <a:t> </a:t>
            </a:r>
            <a:r>
              <a:rPr sz="1800" dirty="0" err="1"/>
              <a:t>biridir</a:t>
            </a:r>
            <a:r>
              <a:rPr sz="1800" dirty="0"/>
              <a:t>.</a:t>
            </a:r>
            <a:endParaRPr lang="tr-TR" dirty="0"/>
          </a:p>
          <a:p>
            <a:r>
              <a:rPr sz="1800" dirty="0"/>
              <a:t>Kaggle </a:t>
            </a:r>
            <a:r>
              <a:rPr sz="1800" dirty="0" err="1"/>
              <a:t>ve</a:t>
            </a:r>
            <a:r>
              <a:rPr sz="1800" dirty="0"/>
              <a:t> Hugging Face </a:t>
            </a:r>
            <a:r>
              <a:rPr sz="1800" dirty="0" err="1"/>
              <a:t>gibi</a:t>
            </a:r>
            <a:r>
              <a:rPr sz="1800" dirty="0"/>
              <a:t> </a:t>
            </a:r>
            <a:r>
              <a:rPr sz="1800" dirty="0" err="1"/>
              <a:t>platformlardaki</a:t>
            </a:r>
            <a:r>
              <a:rPr sz="1800" dirty="0"/>
              <a:t> </a:t>
            </a:r>
            <a:r>
              <a:rPr sz="1800" dirty="0" err="1"/>
              <a:t>mevcut</a:t>
            </a:r>
            <a:r>
              <a:rPr sz="1800" dirty="0"/>
              <a:t> </a:t>
            </a:r>
            <a:r>
              <a:rPr sz="1800" dirty="0" err="1"/>
              <a:t>arama</a:t>
            </a:r>
            <a:r>
              <a:rPr sz="1800" dirty="0"/>
              <a:t> </a:t>
            </a:r>
            <a:r>
              <a:rPr sz="1800" dirty="0" err="1"/>
              <a:t>ağırlıklı</a:t>
            </a:r>
            <a:r>
              <a:rPr sz="1800" dirty="0"/>
              <a:t> </a:t>
            </a:r>
            <a:r>
              <a:rPr sz="1800" dirty="0" err="1"/>
              <a:t>olarak</a:t>
            </a:r>
            <a:r>
              <a:rPr sz="1800" dirty="0"/>
              <a:t> </a:t>
            </a:r>
            <a:r>
              <a:rPr sz="1800" dirty="0" err="1"/>
              <a:t>anahtar</a:t>
            </a:r>
            <a:r>
              <a:rPr sz="1800" dirty="0"/>
              <a:t> </a:t>
            </a:r>
            <a:r>
              <a:rPr sz="1800" dirty="0" err="1"/>
              <a:t>kelime</a:t>
            </a:r>
            <a:r>
              <a:rPr sz="1800" dirty="0"/>
              <a:t> </a:t>
            </a:r>
            <a:r>
              <a:rPr sz="1800" dirty="0" err="1"/>
              <a:t>eşleşmesine</a:t>
            </a:r>
            <a:r>
              <a:rPr sz="1800" dirty="0"/>
              <a:t> </a:t>
            </a:r>
            <a:r>
              <a:rPr sz="1800" dirty="0" err="1"/>
              <a:t>dayanır</a:t>
            </a:r>
            <a:r>
              <a:rPr sz="1800" dirty="0"/>
              <a:t>; </a:t>
            </a:r>
            <a:r>
              <a:rPr sz="1800" dirty="0" err="1"/>
              <a:t>eş</a:t>
            </a:r>
            <a:r>
              <a:rPr sz="1800" dirty="0"/>
              <a:t> </a:t>
            </a:r>
            <a:r>
              <a:rPr sz="1800" dirty="0" err="1"/>
              <a:t>anlamlı</a:t>
            </a:r>
            <a:r>
              <a:rPr sz="1800" dirty="0"/>
              <a:t> </a:t>
            </a:r>
            <a:r>
              <a:rPr sz="1800" dirty="0" err="1"/>
              <a:t>ya</a:t>
            </a:r>
            <a:r>
              <a:rPr sz="1800" dirty="0"/>
              <a:t> da </a:t>
            </a:r>
            <a:r>
              <a:rPr sz="1800" dirty="0" err="1"/>
              <a:t>farklı</a:t>
            </a:r>
            <a:r>
              <a:rPr sz="1800" dirty="0"/>
              <a:t> </a:t>
            </a:r>
            <a:r>
              <a:rPr sz="1800" dirty="0" err="1"/>
              <a:t>yazım</a:t>
            </a:r>
            <a:r>
              <a:rPr sz="1800" dirty="0"/>
              <a:t> </a:t>
            </a:r>
            <a:r>
              <a:rPr sz="1800" dirty="0" err="1"/>
              <a:t>tarzındaki</a:t>
            </a:r>
            <a:r>
              <a:rPr sz="1800" dirty="0"/>
              <a:t> </a:t>
            </a:r>
            <a:r>
              <a:rPr sz="1800" dirty="0" err="1"/>
              <a:t>açıklamaları</a:t>
            </a:r>
            <a:r>
              <a:rPr sz="1800" dirty="0"/>
              <a:t> </a:t>
            </a:r>
            <a:r>
              <a:rPr sz="1800" dirty="0" err="1"/>
              <a:t>kaçırır</a:t>
            </a:r>
            <a:r>
              <a:rPr sz="1800" dirty="0"/>
              <a:t>.</a:t>
            </a:r>
          </a:p>
          <a:p>
            <a:r>
              <a:rPr lang="tr-TR" sz="1800" dirty="0"/>
              <a:t>Amaç: Veri seti başlık ve açıklama metinlerini ana sinyal kaynağı olarak kullanan, dense </a:t>
            </a:r>
            <a:r>
              <a:rPr lang="tr-TR" sz="1800" dirty="0" err="1"/>
              <a:t>retrieval</a:t>
            </a:r>
            <a:r>
              <a:rPr lang="tr-TR" sz="1800" dirty="0"/>
              <a:t> (</a:t>
            </a:r>
            <a:r>
              <a:rPr lang="tr-TR" sz="1800" dirty="0" err="1"/>
              <a:t>FAISS</a:t>
            </a:r>
            <a:r>
              <a:rPr lang="tr-TR" sz="1800" dirty="0"/>
              <a:t> + </a:t>
            </a:r>
            <a:r>
              <a:rPr lang="tr-TR" sz="1800" dirty="0" err="1"/>
              <a:t>sentence-transformers</a:t>
            </a:r>
            <a:r>
              <a:rPr lang="tr-TR" sz="1800" dirty="0"/>
              <a:t>) omurgalı, klasik </a:t>
            </a:r>
            <a:r>
              <a:rPr lang="tr-TR" sz="1800" dirty="0" err="1"/>
              <a:t>BM25</a:t>
            </a:r>
            <a:r>
              <a:rPr lang="tr-TR" sz="1800" dirty="0"/>
              <a:t> </a:t>
            </a:r>
            <a:r>
              <a:rPr lang="tr-TR" sz="1800" dirty="0" err="1"/>
              <a:t>baseline'ı</a:t>
            </a:r>
            <a:r>
              <a:rPr lang="tr-TR" sz="1800" dirty="0"/>
              <a:t> ile sayısal olarak karşılaştırılabilir bir prototip geliştirmek; üzerine </a:t>
            </a:r>
            <a:r>
              <a:rPr lang="tr-TR" sz="1800" dirty="0" err="1"/>
              <a:t>curated</a:t>
            </a:r>
            <a:r>
              <a:rPr lang="tr-TR" sz="1800" dirty="0"/>
              <a:t> </a:t>
            </a:r>
            <a:r>
              <a:rPr lang="tr-TR" sz="1800" dirty="0" err="1"/>
              <a:t>query</a:t>
            </a:r>
            <a:r>
              <a:rPr lang="tr-TR" sz="1800" dirty="0"/>
              <a:t> </a:t>
            </a:r>
            <a:r>
              <a:rPr lang="tr-TR" sz="1800" dirty="0" err="1"/>
              <a:t>expansion</a:t>
            </a:r>
            <a:r>
              <a:rPr lang="tr-TR" sz="1800" dirty="0"/>
              <a:t> ve </a:t>
            </a:r>
            <a:r>
              <a:rPr lang="tr-TR" sz="1800" dirty="0" err="1"/>
              <a:t>cross-encoder</a:t>
            </a:r>
            <a:r>
              <a:rPr lang="tr-TR" sz="1800" dirty="0"/>
              <a:t> </a:t>
            </a:r>
            <a:r>
              <a:rPr lang="tr-TR" sz="1800" dirty="0" err="1"/>
              <a:t>rerank</a:t>
            </a:r>
            <a:r>
              <a:rPr lang="tr-TR" sz="1800" dirty="0"/>
              <a:t> katmanları ekleyerek dürüst güven sinyalleri (</a:t>
            </a:r>
            <a:r>
              <a:rPr lang="tr-TR" sz="1800" dirty="0" err="1"/>
              <a:t>weak</a:t>
            </a:r>
            <a:r>
              <a:rPr lang="tr-TR" sz="1800" dirty="0"/>
              <a:t> </a:t>
            </a:r>
            <a:r>
              <a:rPr lang="tr-TR" sz="1800" dirty="0" err="1"/>
              <a:t>match</a:t>
            </a:r>
            <a:r>
              <a:rPr lang="tr-TR" sz="1800" dirty="0"/>
              <a:t>, </a:t>
            </a:r>
            <a:r>
              <a:rPr lang="tr-TR" sz="1800" dirty="0" err="1"/>
              <a:t>OOD</a:t>
            </a:r>
            <a:r>
              <a:rPr lang="tr-TR" sz="1800" dirty="0"/>
              <a:t>) sunmak.</a:t>
            </a:r>
            <a:endParaRPr sz="1800" dirty="0"/>
          </a:p>
          <a:p>
            <a:r>
              <a:rPr sz="1800" dirty="0" err="1"/>
              <a:t>Hedef</a:t>
            </a:r>
            <a:r>
              <a:rPr sz="1800" dirty="0"/>
              <a:t> </a:t>
            </a:r>
            <a:r>
              <a:rPr sz="1800" dirty="0" err="1"/>
              <a:t>metrikler</a:t>
            </a:r>
            <a:r>
              <a:rPr sz="1800" dirty="0"/>
              <a:t>: </a:t>
            </a:r>
            <a:r>
              <a:rPr sz="1800" dirty="0" err="1"/>
              <a:t>Precision@K</a:t>
            </a:r>
            <a:r>
              <a:rPr sz="1800" dirty="0"/>
              <a:t>, </a:t>
            </a:r>
            <a:r>
              <a:rPr sz="1800" dirty="0" err="1"/>
              <a:t>Recall@K</a:t>
            </a:r>
            <a:r>
              <a:rPr sz="1800" dirty="0"/>
              <a:t>, </a:t>
            </a:r>
            <a:r>
              <a:rPr sz="1800" dirty="0" err="1"/>
              <a:t>MRR</a:t>
            </a:r>
            <a:r>
              <a:rPr sz="1800" dirty="0"/>
              <a:t>, </a:t>
            </a:r>
            <a:r>
              <a:rPr sz="1800" dirty="0" err="1"/>
              <a:t>nDCG@5</a:t>
            </a:r>
            <a:r>
              <a:rPr sz="1800" dirty="0"/>
              <a:t>; ek </a:t>
            </a:r>
            <a:r>
              <a:rPr sz="1800" dirty="0" err="1"/>
              <a:t>olarak</a:t>
            </a:r>
            <a:r>
              <a:rPr sz="1800" dirty="0"/>
              <a:t> </a:t>
            </a:r>
            <a:r>
              <a:rPr sz="1800" dirty="0" err="1"/>
              <a:t>Türkçe</a:t>
            </a:r>
            <a:r>
              <a:rPr sz="1800" dirty="0"/>
              <a:t> alt </a:t>
            </a:r>
            <a:r>
              <a:rPr sz="1800" dirty="0" err="1"/>
              <a:t>küme</a:t>
            </a:r>
            <a:r>
              <a:rPr sz="1800" dirty="0"/>
              <a:t> </a:t>
            </a:r>
            <a:r>
              <a:rPr sz="1800" dirty="0" err="1"/>
              <a:t>analizi</a:t>
            </a:r>
            <a:r>
              <a:rPr sz="18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/>
              <a:t>Özgün Değer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Tek pipeline </a:t>
            </a:r>
            <a:r>
              <a:rPr sz="1800" dirty="0" err="1"/>
              <a:t>üzerinde</a:t>
            </a:r>
            <a:r>
              <a:rPr sz="1800" dirty="0"/>
              <a:t> </a:t>
            </a:r>
            <a:r>
              <a:rPr sz="1800" dirty="0" err="1"/>
              <a:t>dört</a:t>
            </a:r>
            <a:r>
              <a:rPr sz="1800" dirty="0"/>
              <a:t> encoder </a:t>
            </a:r>
            <a:r>
              <a:rPr sz="1800" dirty="0" err="1"/>
              <a:t>profili</a:t>
            </a:r>
            <a:r>
              <a:rPr sz="1800" dirty="0"/>
              <a:t> </a:t>
            </a:r>
            <a:r>
              <a:rPr sz="1800" dirty="0" err="1"/>
              <a:t>karşılaştırılıyor</a:t>
            </a:r>
            <a:r>
              <a:rPr sz="1800" dirty="0"/>
              <a:t>: </a:t>
            </a:r>
            <a:r>
              <a:rPr sz="1800" dirty="0" err="1"/>
              <a:t>MiniLM</a:t>
            </a:r>
            <a:r>
              <a:rPr sz="1800" dirty="0"/>
              <a:t> (baseline), </a:t>
            </a:r>
            <a:r>
              <a:rPr sz="1800" dirty="0" err="1"/>
              <a:t>E5</a:t>
            </a:r>
            <a:r>
              <a:rPr sz="1800" dirty="0"/>
              <a:t>-base (retrieval-tuned), </a:t>
            </a:r>
            <a:r>
              <a:rPr sz="1800" dirty="0" err="1"/>
              <a:t>MiniLM</a:t>
            </a:r>
            <a:r>
              <a:rPr sz="1800" dirty="0"/>
              <a:t>-FT (</a:t>
            </a:r>
            <a:r>
              <a:rPr sz="1800" dirty="0" err="1"/>
              <a:t>alan</a:t>
            </a:r>
            <a:r>
              <a:rPr sz="1800" dirty="0"/>
              <a:t> </a:t>
            </a:r>
            <a:r>
              <a:rPr sz="1800" dirty="0" err="1"/>
              <a:t>uyarlamalı</a:t>
            </a:r>
            <a:r>
              <a:rPr sz="1800" dirty="0"/>
              <a:t>), multilingual (</a:t>
            </a:r>
            <a:r>
              <a:rPr sz="1800" dirty="0" err="1"/>
              <a:t>Türkçe</a:t>
            </a:r>
            <a:r>
              <a:rPr sz="1800" dirty="0"/>
              <a:t> </a:t>
            </a:r>
            <a:r>
              <a:rPr sz="1800" dirty="0" err="1"/>
              <a:t>destekli</a:t>
            </a:r>
            <a:r>
              <a:rPr sz="1800" dirty="0"/>
              <a:t>).</a:t>
            </a:r>
          </a:p>
          <a:p>
            <a:r>
              <a:rPr lang="tr-TR" sz="1800" dirty="0" err="1"/>
              <a:t>Lexical-anchor</a:t>
            </a:r>
            <a:r>
              <a:rPr lang="tr-TR" sz="1800" dirty="0"/>
              <a:t> </a:t>
            </a:r>
            <a:r>
              <a:rPr lang="tr-TR" sz="1800" dirty="0" err="1"/>
              <a:t>cezası:sorgudaki</a:t>
            </a:r>
            <a:r>
              <a:rPr lang="tr-TR" sz="1800" dirty="0"/>
              <a:t> kritik kelime dokümanda yoksa skor düşürülür</a:t>
            </a:r>
            <a:r>
              <a:rPr lang="tr-TR" sz="1800"/>
              <a:t>; anlamsal </a:t>
            </a:r>
            <a:r>
              <a:rPr lang="tr-TR" sz="1800" dirty="0"/>
              <a:t>yakın ama konuyla ilgisiz sonuçlar elenir.</a:t>
            </a:r>
          </a:p>
          <a:p>
            <a:r>
              <a:rPr lang="tr-TR" sz="1800" dirty="0"/>
              <a:t>Dürüst güven sinyali katmanı: "</a:t>
            </a:r>
            <a:r>
              <a:rPr lang="tr-TR" sz="1800" dirty="0" err="1"/>
              <a:t>weak</a:t>
            </a:r>
            <a:r>
              <a:rPr lang="tr-TR" sz="1800" dirty="0"/>
              <a:t> </a:t>
            </a:r>
            <a:r>
              <a:rPr lang="tr-TR" sz="1800" dirty="0" err="1"/>
              <a:t>match</a:t>
            </a:r>
            <a:r>
              <a:rPr lang="tr-TR" sz="1800" dirty="0"/>
              <a:t>" rozeti ve </a:t>
            </a:r>
            <a:r>
              <a:rPr lang="tr-TR" sz="1800" dirty="0" err="1"/>
              <a:t>OOD</a:t>
            </a:r>
            <a:r>
              <a:rPr lang="tr-TR" sz="1800" dirty="0"/>
              <a:t> (</a:t>
            </a:r>
            <a:r>
              <a:rPr lang="tr-TR" sz="1800" dirty="0" err="1"/>
              <a:t>out</a:t>
            </a:r>
            <a:r>
              <a:rPr lang="tr-TR" sz="1800" dirty="0"/>
              <a:t>-of-</a:t>
            </a:r>
            <a:r>
              <a:rPr lang="tr-TR" sz="1800" dirty="0" err="1"/>
              <a:t>distribution</a:t>
            </a:r>
            <a:r>
              <a:rPr lang="tr-TR" sz="1800" dirty="0"/>
              <a:t>) tespiti; </a:t>
            </a:r>
            <a:r>
              <a:rPr lang="tr-TR" sz="1800" dirty="0" err="1"/>
              <a:t>corpus'ta</a:t>
            </a:r>
            <a:r>
              <a:rPr lang="tr-TR" sz="1800" dirty="0"/>
              <a:t> karşılığı olmayan sorgularda sistem yanlış güven değil, açık "yetersiz" sinyali verir; literatürdeki çoğu </a:t>
            </a:r>
            <a:r>
              <a:rPr lang="tr-TR" sz="1800" dirty="0" err="1"/>
              <a:t>retrieval</a:t>
            </a:r>
            <a:r>
              <a:rPr lang="tr-TR" sz="1800" dirty="0"/>
              <a:t> sistemi bu sınırı saklar.</a:t>
            </a:r>
          </a:p>
          <a:p>
            <a:r>
              <a:rPr lang="tr-TR" sz="1800" dirty="0"/>
              <a:t>Tekrar üretilebilir değerlendirme protokolü: 34 etiketli </a:t>
            </a:r>
            <a:r>
              <a:rPr lang="tr-TR" sz="1800" dirty="0" err="1"/>
              <a:t>sorguluk</a:t>
            </a:r>
            <a:r>
              <a:rPr lang="tr-TR" sz="1800" dirty="0"/>
              <a:t> tez </a:t>
            </a:r>
            <a:r>
              <a:rPr lang="tr-TR" sz="1800" dirty="0" err="1"/>
              <a:t>benchmark</a:t>
            </a:r>
            <a:r>
              <a:rPr lang="tr-TR" sz="1800" dirty="0"/>
              <a:t> + 46 </a:t>
            </a:r>
            <a:r>
              <a:rPr lang="tr-TR" sz="1800" dirty="0" err="1"/>
              <a:t>sorguluk</a:t>
            </a:r>
            <a:r>
              <a:rPr lang="tr-TR" sz="1800" dirty="0"/>
              <a:t> stres probu → her değişikliğin etkisi </a:t>
            </a:r>
            <a:r>
              <a:rPr lang="tr-TR" sz="1800" dirty="0" err="1"/>
              <a:t>P@1</a:t>
            </a:r>
            <a:r>
              <a:rPr lang="tr-TR" sz="1800" dirty="0"/>
              <a:t>/</a:t>
            </a:r>
            <a:r>
              <a:rPr lang="tr-TR" sz="1800" dirty="0" err="1"/>
              <a:t>P@3</a:t>
            </a:r>
            <a:r>
              <a:rPr lang="tr-TR" sz="1800" dirty="0"/>
              <a:t>/</a:t>
            </a:r>
            <a:r>
              <a:rPr lang="tr-TR" sz="1800" dirty="0" err="1"/>
              <a:t>OOD</a:t>
            </a:r>
            <a:r>
              <a:rPr lang="tr-TR" sz="1800" dirty="0"/>
              <a:t> doğruluğu cinsinden ölçülebilir.</a:t>
            </a:r>
          </a:p>
          <a:p>
            <a:r>
              <a:rPr lang="tr-TR" sz="1800" dirty="0" err="1"/>
              <a:t>Title-deemphasis</a:t>
            </a:r>
            <a:r>
              <a:rPr lang="tr-TR" sz="1800" dirty="0"/>
              <a:t> politikası: Açıklaması zayıf veri setlerinde başlık tek başına sonucu sürüklemez, kullanıcıya rozetle bildirilir.</a:t>
            </a:r>
          </a:p>
          <a:p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Yaygın Etki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Açık veri portalları ve kurumsal data catalog'ları için yeniden kullanılabilir anlamsal arama modülü.</a:t>
            </a:r>
            <a:endParaRPr lang="tr-TR"/>
          </a:p>
          <a:p>
            <a:r>
              <a:rPr sz="1800"/>
              <a:t>Veri bilimi araştırmacıları için veri keşif süresinde belirgin azalma — Top-K içinde aranan veri setine ulaşma oranı %50+ göreli iyileşti.</a:t>
            </a:r>
          </a:p>
          <a:p>
            <a:r>
              <a:rPr sz="1800"/>
              <a:t>Tekrar üretilebilir değerlendirme protokolü: 34 etiketli sorguluk benchmark + 46 sorguluk regresyon probu (`dev_tools/regression_probe.py`).</a:t>
            </a:r>
          </a:p>
          <a:p>
            <a:r>
              <a:rPr sz="1800"/>
              <a:t>Türkçe sorgu desteği — multilingual profile sayesinde Türkçe data discovery senaryoları aynı sistem üzerinden test edilebilir.</a:t>
            </a:r>
          </a:p>
          <a:p>
            <a:r>
              <a:rPr sz="1800"/>
              <a:t>Açık kaynak Python yığını (sentence-transformers, FAISS, BM25) — gelecek araştırmalar için temel.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 err="1"/>
              <a:t>Uygulanabilirlik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Çalışan web prototipi: tarayıcı tabanlı Live Search arayüzü ve dört araştırma sorusunu (RQ1–RQ4) açıklayan paneller.</a:t>
            </a:r>
            <a:endParaRPr lang="tr-TR"/>
          </a:p>
          <a:p>
            <a:r>
              <a:rPr sz="1800"/>
              <a:t>Corpus: 1.120 veri seti tanımı (640 Kaggle + 480 Hugging Face) FAISS ile indekslendi; her sorgu 1 saniyenin altında yanıtlanıyor.</a:t>
            </a:r>
          </a:p>
          <a:p>
            <a:r>
              <a:rPr sz="1800"/>
              <a:t>Üç retrieval yöntemi (BM25 / Semantic / Hybrid) ve dört encoder profili kullanıcı tarafından canlı seçilebiliyor — toplam 24 farklı konfigürasyon test edilebilir.</a:t>
            </a:r>
          </a:p>
          <a:p>
            <a:r>
              <a:rPr sz="1800"/>
              <a:t>Cross-encoder semantic rerank açılır-kapanır toggle olarak sunulmuş; ablation çalışmaları yapılabilir.</a:t>
            </a:r>
          </a:p>
          <a:p>
            <a:r>
              <a:rPr sz="1800"/>
              <a:t>Yatay ölçeklenebilirlik: yeni veri kaynağı eklemek için yalnızca normalize_merge.py + build_faiss_index.py çalıştırmak yeterli.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068AF11-82D3-978E-93F9-22EC81348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/>
              <a:t>Sistem Mimarisi</a:t>
            </a:r>
            <a:endParaRPr lang="tr-TR" sz="32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64DCB86-A7E4-1813-77A7-79DCAAA49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sz="1800" dirty="0"/>
              <a:t>1) Veri Katmanı</a:t>
            </a:r>
            <a:endParaRPr lang="tr-TR" dirty="0"/>
          </a:p>
          <a:p>
            <a:pPr lvl="1"/>
            <a:r>
              <a:rPr lang="tr-TR" sz="1800" dirty="0" err="1"/>
              <a:t>Kaggle</a:t>
            </a:r>
            <a:r>
              <a:rPr lang="tr-TR" sz="1800" dirty="0"/>
              <a:t> + </a:t>
            </a:r>
            <a:r>
              <a:rPr lang="tr-TR" sz="1800" dirty="0" err="1"/>
              <a:t>Hugging</a:t>
            </a:r>
            <a:r>
              <a:rPr lang="tr-TR" sz="1800" dirty="0"/>
              <a:t> </a:t>
            </a:r>
            <a:r>
              <a:rPr lang="tr-TR" sz="1800" dirty="0" err="1"/>
              <a:t>Face</a:t>
            </a:r>
            <a:r>
              <a:rPr lang="tr-TR" sz="1800" dirty="0"/>
              <a:t> koleksiyon </a:t>
            </a:r>
            <a:r>
              <a:rPr lang="tr-TR" sz="1800" dirty="0" err="1"/>
              <a:t>scriptleri</a:t>
            </a:r>
            <a:r>
              <a:rPr lang="tr-TR" sz="1800" dirty="0"/>
              <a:t>  →  ham </a:t>
            </a:r>
            <a:r>
              <a:rPr lang="tr-TR" sz="1800" dirty="0" err="1"/>
              <a:t>JSONL</a:t>
            </a:r>
            <a:endParaRPr lang="tr-TR" sz="1800" dirty="0"/>
          </a:p>
          <a:p>
            <a:pPr lvl="1"/>
            <a:r>
              <a:rPr lang="tr-TR" sz="1800" dirty="0" err="1"/>
              <a:t>normalize_merge.py</a:t>
            </a:r>
            <a:r>
              <a:rPr lang="tr-TR" sz="1800" dirty="0"/>
              <a:t>: temizleme, dil tespiti, domain/</a:t>
            </a:r>
            <a:r>
              <a:rPr lang="tr-TR" sz="1800" dirty="0" err="1"/>
              <a:t>use-case</a:t>
            </a:r>
            <a:r>
              <a:rPr lang="tr-TR" sz="1800" dirty="0"/>
              <a:t> çıkarımı  →  </a:t>
            </a:r>
            <a:r>
              <a:rPr lang="tr-TR" sz="1800" dirty="0" err="1"/>
              <a:t>descriptions_clean.jsonl</a:t>
            </a:r>
            <a:endParaRPr lang="tr-TR" sz="1800" dirty="0"/>
          </a:p>
          <a:p>
            <a:r>
              <a:rPr lang="tr-TR" sz="1800" dirty="0"/>
              <a:t>2) İndeks Katmanı  (her </a:t>
            </a:r>
            <a:r>
              <a:rPr lang="tr-TR" sz="1800" dirty="0" err="1"/>
              <a:t>encoder</a:t>
            </a:r>
            <a:r>
              <a:rPr lang="tr-TR" sz="1800" dirty="0"/>
              <a:t> profili için ayrı)</a:t>
            </a:r>
          </a:p>
          <a:p>
            <a:pPr lvl="1"/>
            <a:r>
              <a:rPr lang="tr-TR" sz="1800" dirty="0"/>
              <a:t>Dense: </a:t>
            </a:r>
            <a:r>
              <a:rPr lang="tr-TR" sz="1800" dirty="0" err="1"/>
              <a:t>build_faiss_index.py</a:t>
            </a:r>
            <a:r>
              <a:rPr lang="tr-TR" sz="1800" dirty="0"/>
              <a:t>  →  </a:t>
            </a:r>
            <a:r>
              <a:rPr lang="tr-TR" sz="1800" dirty="0" err="1"/>
              <a:t>FAISS</a:t>
            </a:r>
            <a:r>
              <a:rPr lang="tr-TR" sz="1800" dirty="0"/>
              <a:t> </a:t>
            </a:r>
            <a:r>
              <a:rPr lang="tr-TR" sz="1800" dirty="0" err="1"/>
              <a:t>IndexFlatIP</a:t>
            </a:r>
            <a:r>
              <a:rPr lang="tr-TR" sz="1800" dirty="0"/>
              <a:t>  +  </a:t>
            </a:r>
            <a:r>
              <a:rPr lang="tr-TR" sz="1800" dirty="0" err="1"/>
              <a:t>mappings.json</a:t>
            </a:r>
            <a:endParaRPr lang="tr-TR" sz="1800" dirty="0"/>
          </a:p>
          <a:p>
            <a:pPr lvl="1"/>
            <a:r>
              <a:rPr lang="tr-TR" sz="1800" dirty="0" err="1"/>
              <a:t>Lexical</a:t>
            </a:r>
            <a:r>
              <a:rPr lang="tr-TR" sz="1800" dirty="0"/>
              <a:t>: </a:t>
            </a:r>
            <a:r>
              <a:rPr lang="tr-TR" sz="1800" dirty="0" err="1"/>
              <a:t>bm25.py</a:t>
            </a:r>
            <a:r>
              <a:rPr lang="tr-TR" sz="1800" dirty="0"/>
              <a:t>  →  ters indeks (</a:t>
            </a:r>
            <a:r>
              <a:rPr lang="tr-TR" sz="1800" dirty="0" err="1"/>
              <a:t>TITLE×3</a:t>
            </a:r>
            <a:r>
              <a:rPr lang="tr-TR" sz="1800" dirty="0"/>
              <a:t> + </a:t>
            </a:r>
            <a:r>
              <a:rPr lang="tr-TR" sz="1800" dirty="0" err="1"/>
              <a:t>KEYWORD×2</a:t>
            </a:r>
            <a:r>
              <a:rPr lang="tr-TR" sz="1800" dirty="0"/>
              <a:t> + </a:t>
            </a:r>
            <a:r>
              <a:rPr lang="tr-TR" sz="1800" dirty="0" err="1"/>
              <a:t>description</a:t>
            </a:r>
            <a:r>
              <a:rPr lang="tr-TR" sz="1800" dirty="0"/>
              <a:t>)</a:t>
            </a:r>
          </a:p>
          <a:p>
            <a:r>
              <a:rPr lang="tr-TR" sz="1800" dirty="0"/>
              <a:t>3) Sorgu Anlama Katmanı  (</a:t>
            </a:r>
            <a:r>
              <a:rPr lang="tr-TR" sz="1800" dirty="0" err="1"/>
              <a:t>query_understanding.py</a:t>
            </a:r>
            <a:r>
              <a:rPr lang="tr-TR" sz="1800" dirty="0"/>
              <a:t>)</a:t>
            </a:r>
          </a:p>
          <a:p>
            <a:pPr lvl="1"/>
            <a:r>
              <a:rPr lang="tr-TR" sz="1800" dirty="0" err="1"/>
              <a:t>Tokenize</a:t>
            </a:r>
            <a:r>
              <a:rPr lang="tr-TR" sz="1800" dirty="0"/>
              <a:t> → </a:t>
            </a:r>
            <a:r>
              <a:rPr lang="tr-TR" sz="1800" dirty="0" err="1"/>
              <a:t>stopword</a:t>
            </a:r>
            <a:r>
              <a:rPr lang="tr-TR" sz="1800" dirty="0"/>
              <a:t>/</a:t>
            </a:r>
            <a:r>
              <a:rPr lang="tr-TR" sz="1800" dirty="0" err="1"/>
              <a:t>generic-noise</a:t>
            </a:r>
            <a:r>
              <a:rPr lang="tr-TR" sz="1800" dirty="0"/>
              <a:t> </a:t>
            </a:r>
            <a:r>
              <a:rPr lang="tr-TR" sz="1800" dirty="0" err="1"/>
              <a:t>filter</a:t>
            </a:r>
            <a:r>
              <a:rPr lang="tr-TR" sz="1800" dirty="0"/>
              <a:t> → </a:t>
            </a:r>
            <a:r>
              <a:rPr lang="tr-TR" sz="1800" dirty="0" err="1"/>
              <a:t>intent</a:t>
            </a:r>
            <a:r>
              <a:rPr lang="tr-TR" sz="1800" dirty="0"/>
              <a:t> body → </a:t>
            </a:r>
            <a:r>
              <a:rPr lang="tr-TR" sz="1800" dirty="0" err="1"/>
              <a:t>concept</a:t>
            </a:r>
            <a:r>
              <a:rPr lang="tr-TR" sz="1800" dirty="0"/>
              <a:t> </a:t>
            </a:r>
            <a:r>
              <a:rPr lang="tr-TR" sz="1800" dirty="0" err="1"/>
              <a:t>expansion</a:t>
            </a:r>
            <a:r>
              <a:rPr lang="tr-TR" sz="1800" dirty="0"/>
              <a:t> → </a:t>
            </a:r>
            <a:r>
              <a:rPr lang="tr-TR" sz="1800" dirty="0" err="1"/>
              <a:t>semantic</a:t>
            </a:r>
            <a:r>
              <a:rPr lang="tr-TR" sz="1800" dirty="0"/>
              <a:t> </a:t>
            </a:r>
            <a:r>
              <a:rPr lang="tr-TR" sz="1800" dirty="0" err="1"/>
              <a:t>variants</a:t>
            </a:r>
            <a:endParaRPr lang="tr-TR" sz="1800" dirty="0"/>
          </a:p>
          <a:p>
            <a:r>
              <a:rPr lang="tr-TR" sz="1800" dirty="0"/>
              <a:t>4) Geri Getirme + Sıralama Katmanı</a:t>
            </a:r>
          </a:p>
          <a:p>
            <a:pPr lvl="1"/>
            <a:r>
              <a:rPr lang="tr-TR" sz="1800" dirty="0" err="1"/>
              <a:t>search.py</a:t>
            </a:r>
            <a:r>
              <a:rPr lang="tr-TR" sz="1800" dirty="0"/>
              <a:t> / </a:t>
            </a:r>
            <a:r>
              <a:rPr lang="tr-TR" sz="1800" dirty="0" err="1"/>
              <a:t>hybrid.py</a:t>
            </a:r>
            <a:r>
              <a:rPr lang="tr-TR" sz="1800" dirty="0"/>
              <a:t>: </a:t>
            </a:r>
            <a:r>
              <a:rPr lang="tr-TR" sz="1800" dirty="0" err="1"/>
              <a:t>stage</a:t>
            </a:r>
            <a:r>
              <a:rPr lang="tr-TR" sz="1800" dirty="0"/>
              <a:t>-1 </a:t>
            </a:r>
            <a:r>
              <a:rPr lang="tr-TR" sz="1800" dirty="0" err="1"/>
              <a:t>semantic</a:t>
            </a:r>
            <a:r>
              <a:rPr lang="tr-TR" sz="1800" dirty="0"/>
              <a:t> + </a:t>
            </a:r>
            <a:r>
              <a:rPr lang="tr-TR" sz="1800" dirty="0" err="1"/>
              <a:t>BM25</a:t>
            </a:r>
            <a:r>
              <a:rPr lang="tr-TR" sz="1800" dirty="0"/>
              <a:t> skor füzyonu (top-40 aday)</a:t>
            </a:r>
          </a:p>
          <a:p>
            <a:pPr lvl="1"/>
            <a:r>
              <a:rPr lang="tr-TR" sz="1800" dirty="0" err="1"/>
              <a:t>reranker.py</a:t>
            </a:r>
            <a:r>
              <a:rPr lang="tr-TR" sz="1800" dirty="0"/>
              <a:t>: </a:t>
            </a:r>
            <a:r>
              <a:rPr lang="tr-TR" sz="1800" dirty="0" err="1"/>
              <a:t>lexical-anchor</a:t>
            </a:r>
            <a:r>
              <a:rPr lang="tr-TR" sz="1800" dirty="0"/>
              <a:t> </a:t>
            </a:r>
            <a:r>
              <a:rPr lang="tr-TR" sz="1800" dirty="0" err="1"/>
              <a:t>coverage</a:t>
            </a:r>
            <a:r>
              <a:rPr lang="tr-TR" sz="1800" dirty="0"/>
              <a:t>  +  </a:t>
            </a:r>
            <a:r>
              <a:rPr lang="tr-TR" sz="1800" dirty="0" err="1"/>
              <a:t>cross-encoder</a:t>
            </a:r>
            <a:r>
              <a:rPr lang="tr-TR" sz="1800" dirty="0"/>
              <a:t> </a:t>
            </a:r>
            <a:r>
              <a:rPr lang="tr-TR" sz="1800" dirty="0" err="1"/>
              <a:t>rerank</a:t>
            </a:r>
            <a:r>
              <a:rPr lang="tr-TR" sz="1800" dirty="0"/>
              <a:t> (</a:t>
            </a:r>
            <a:r>
              <a:rPr lang="tr-TR" sz="1800" dirty="0" err="1"/>
              <a:t>BAAI</a:t>
            </a:r>
            <a:r>
              <a:rPr lang="tr-TR" sz="1800" dirty="0"/>
              <a:t>/</a:t>
            </a:r>
            <a:r>
              <a:rPr lang="tr-TR" sz="1800" dirty="0" err="1"/>
              <a:t>bge-reranker-base</a:t>
            </a:r>
            <a:r>
              <a:rPr lang="tr-TR" sz="1800" dirty="0"/>
              <a:t>)  +  </a:t>
            </a:r>
            <a:r>
              <a:rPr lang="tr-TR" sz="1800" dirty="0" err="1"/>
              <a:t>confidence</a:t>
            </a:r>
            <a:r>
              <a:rPr lang="tr-TR" sz="1800" dirty="0"/>
              <a:t> etiketleme</a:t>
            </a:r>
          </a:p>
          <a:p>
            <a:r>
              <a:rPr lang="tr-TR" sz="1800" dirty="0"/>
              <a:t>5) Sunum Katmanı  (</a:t>
            </a:r>
            <a:r>
              <a:rPr lang="tr-TR" sz="1800" dirty="0" err="1"/>
              <a:t>web_app.py</a:t>
            </a:r>
            <a:r>
              <a:rPr lang="tr-TR" sz="1800" dirty="0"/>
              <a:t>)</a:t>
            </a:r>
          </a:p>
          <a:p>
            <a:pPr lvl="1"/>
            <a:r>
              <a:rPr lang="tr-TR" sz="1800" dirty="0"/>
              <a:t>HTTP API + tarayıcı arayüzü: Live </a:t>
            </a:r>
            <a:r>
              <a:rPr lang="tr-TR" sz="1800" dirty="0" err="1"/>
              <a:t>Search</a:t>
            </a:r>
            <a:r>
              <a:rPr lang="tr-TR" sz="1800" dirty="0"/>
              <a:t>, profile/</a:t>
            </a:r>
            <a:r>
              <a:rPr lang="tr-TR" sz="1800" dirty="0" err="1"/>
              <a:t>method</a:t>
            </a:r>
            <a:r>
              <a:rPr lang="tr-TR" sz="1800" dirty="0"/>
              <a:t>/</a:t>
            </a:r>
            <a:r>
              <a:rPr lang="tr-TR" sz="1800" dirty="0" err="1"/>
              <a:t>source</a:t>
            </a:r>
            <a:r>
              <a:rPr lang="tr-TR" sz="1800" dirty="0"/>
              <a:t> kontrolleri, 4 </a:t>
            </a:r>
            <a:r>
              <a:rPr lang="tr-TR" sz="1800" dirty="0" err="1"/>
              <a:t>RQ</a:t>
            </a:r>
            <a:r>
              <a:rPr lang="tr-TR" sz="1800" dirty="0"/>
              <a:t> paneli</a:t>
            </a:r>
          </a:p>
          <a:p>
            <a:r>
              <a:rPr lang="tr-TR" sz="1800" dirty="0"/>
              <a:t>6) Değerlendirme Katmanı  (offline)</a:t>
            </a:r>
          </a:p>
          <a:p>
            <a:pPr lvl="1"/>
            <a:r>
              <a:rPr lang="tr-TR" sz="1800" dirty="0" err="1"/>
              <a:t>evaluate_search.py</a:t>
            </a:r>
            <a:r>
              <a:rPr lang="tr-TR" sz="1800" dirty="0"/>
              <a:t> (tez </a:t>
            </a:r>
            <a:r>
              <a:rPr lang="tr-TR" sz="1800" dirty="0" err="1"/>
              <a:t>benchmark</a:t>
            </a:r>
            <a:r>
              <a:rPr lang="tr-TR" sz="1800" dirty="0"/>
              <a:t>)  +  </a:t>
            </a:r>
            <a:r>
              <a:rPr lang="tr-TR" sz="1800" dirty="0" err="1"/>
              <a:t>dev_tools</a:t>
            </a:r>
            <a:r>
              <a:rPr lang="tr-TR" sz="1800" dirty="0"/>
              <a:t>/</a:t>
            </a:r>
            <a:r>
              <a:rPr lang="tr-TR" sz="1800" dirty="0" err="1"/>
              <a:t>regression_probe.py</a:t>
            </a:r>
            <a:r>
              <a:rPr lang="tr-TR" sz="1800" dirty="0"/>
              <a:t> (stres seti)  +  </a:t>
            </a:r>
            <a:r>
              <a:rPr lang="tr-TR" sz="1800" dirty="0" err="1"/>
              <a:t>probe_evaluator.py</a:t>
            </a:r>
            <a:r>
              <a:rPr lang="tr-TR" sz="1800" dirty="0"/>
              <a:t> (</a:t>
            </a:r>
            <a:r>
              <a:rPr lang="tr-TR" sz="1800" dirty="0" err="1"/>
              <a:t>P@K</a:t>
            </a:r>
            <a:r>
              <a:rPr lang="tr-TR" sz="1800" dirty="0"/>
              <a:t>, </a:t>
            </a:r>
            <a:r>
              <a:rPr lang="tr-TR" sz="1800" dirty="0" err="1"/>
              <a:t>OOD</a:t>
            </a:r>
            <a:r>
              <a:rPr lang="tr-TR" sz="1800" dirty="0"/>
              <a:t> doğruluğu)</a:t>
            </a:r>
          </a:p>
        </p:txBody>
      </p:sp>
    </p:spTree>
    <p:extLst>
      <p:ext uri="{BB962C8B-B14F-4D97-AF65-F5344CB8AC3E}">
        <p14:creationId xmlns:p14="http://schemas.microsoft.com/office/powerpoint/2010/main" val="4154113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Gerçekleştirme Yöntemi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Veri toplama → temizleme → semantic_text inşası (başlık + açıklama + çıkarsanmış domain/use case/modality).</a:t>
            </a:r>
            <a:endParaRPr lang="tr-TR"/>
          </a:p>
          <a:p>
            <a:r>
              <a:rPr sz="1800"/>
              <a:t>İndeksleme: FAISS (semantic) + ters indeks (BM25) paralel; her profil için ayrı vektör deposu.</a:t>
            </a:r>
          </a:p>
          <a:p>
            <a:r>
              <a:rPr sz="1800"/>
              <a:t>Sorgu işleme: tokenizasyon → stopword/generic-noise filtresi → curated phrase/concept genişletme → semantic varyant üretimi.</a:t>
            </a:r>
          </a:p>
          <a:p>
            <a:r>
              <a:rPr sz="1800"/>
              <a:t>Sıralama: stage-1 semantic + BM25 fusion → lexical-anchor coverage bonusu / penalty → cross-encoder rerank (BAAI/bge-reranker-base) → confidence etiketleme.</a:t>
            </a:r>
          </a:p>
          <a:p>
            <a:r>
              <a:rPr sz="1800"/>
              <a:t>Değerlendirme: 34 etiketli sorgu + 46 sorguluk stres seti; Hybrid P@1=0.91 (BM25 P@1=0.74), nDCG@5=0.79; OOD doğruluğu 0.90+.</a:t>
            </a:r>
          </a:p>
          <a:p>
            <a:r>
              <a:rPr sz="1800"/>
              <a:t>Mimari modüler: query_understanding, search, hybrid, reranker, quality_scoring, web_app — her katman bağımsız test edilebilir.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874</Words>
  <Application>Microsoft Office PowerPoint</Application>
  <PresentationFormat>Ekran Gösterisi (4:3)</PresentationFormat>
  <Paragraphs>50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Veri Seti Açıklamaları Üzerinden Büyük Dil Modeli Uyarlaması ile Anlam Tabanlı Veri Keşfi</vt:lpstr>
      <vt:lpstr>Konu ve Amaç</vt:lpstr>
      <vt:lpstr>Özgün Değer</vt:lpstr>
      <vt:lpstr>Yaygın Etki</vt:lpstr>
      <vt:lpstr>Uygulanabilirlik</vt:lpstr>
      <vt:lpstr>Sistem Mimarisi</vt:lpstr>
      <vt:lpstr>Gerçekleştirme Yöntemi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 ADI</dc:title>
  <dc:creator>ozgucan</dc:creator>
  <cp:lastModifiedBy>Melike Selma GENÇ</cp:lastModifiedBy>
  <cp:revision>17</cp:revision>
  <dcterms:created xsi:type="dcterms:W3CDTF">2006-08-16T00:00:00Z</dcterms:created>
  <dcterms:modified xsi:type="dcterms:W3CDTF">2026-04-27T00:20:54Z</dcterms:modified>
</cp:coreProperties>
</file>